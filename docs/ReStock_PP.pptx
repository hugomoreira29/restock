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4" r:id="rId5"/>
    <p:sldId id="265" r:id="rId6"/>
    <p:sldId id="267" r:id="rId7"/>
    <p:sldId id="268" r:id="rId8"/>
    <p:sldId id="269" r:id="rId9"/>
    <p:sldId id="266" r:id="rId10"/>
    <p:sldId id="262" r:id="rId11"/>
  </p:sldIdLst>
  <p:sldSz cx="12192000" cy="6858000"/>
  <p:notesSz cx="6858000" cy="9144000"/>
  <p:embeddedFontLst>
    <p:embeddedFont>
      <p:font typeface="Open Sans" panose="020B0606030504020204" pitchFamily="34" charset="0"/>
      <p:regular r:id="rId13"/>
      <p:bold r:id="rId14"/>
    </p:embeddedFont>
    <p:embeddedFont>
      <p:font typeface="Poppins Medium" panose="00000600000000000000" pitchFamily="2" charset="0"/>
      <p:regular r:id="rId15"/>
      <p:italic r:id="rId16"/>
    </p:embeddedFont>
    <p:embeddedFont>
      <p:font typeface="Poppins SemiBold" panose="00000700000000000000" pitchFamily="2" charset="0"/>
      <p:bold r:id="rId17"/>
      <p:boldItalic r:id="rId18"/>
    </p:embeddedFont>
  </p:embeddedFont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0EC057-BA5C-29FD-84D2-81946D38FE76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539EFF-3767-DE58-6F2A-868E462CFA9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6C85-635A-5F98-7FC0-B5874153977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110E5-2F43-800C-A12B-1DC47E8D8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97DF3-928E-3878-44F1-FA49FE6BDC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0C496-8A6C-9955-440A-08CAECC22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539EFF-3767-DE58-6F2A-868E462CFA95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2149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103B-3B45-F891-6AA8-23A9A17FC45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0B039-C1BA-6743-B8A4-CF11CE2BC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444F0-ACFD-541A-081F-3067178595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ABFC6-1719-5E7F-45D8-3F767F09A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539EFF-3767-DE58-6F2A-868E462CFA95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789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229AE-D2FA-FF13-5E10-FCB0B17EB7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5C1A3-1ACC-F7E2-0D57-8969F66EF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B7001-8B37-6577-B82A-F60C502574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B0F2E-8C0E-9CE9-B4EF-00207FFB0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539EFF-3767-DE58-6F2A-868E462CFA95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7914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2E8B-F00A-7354-0F9D-97AA9A16126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EAFF9-6237-9F5B-DD9E-88D2BA333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410CD-C5DD-E1A8-48D6-36CB84E82D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7676E-9AA8-80D3-EC23-7B19804FC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539EFF-3767-DE58-6F2A-868E462CFA95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6308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33922-B2A8-B85B-8D24-75D90BF3735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ED444-FC07-BEF8-D6C8-0CB25406C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E388C-2F65-3A4D-D094-4C005C7C16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CD965-875E-0870-B6BF-E68408639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539EFF-3767-DE58-6F2A-868E462CFA95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264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E772-FD46-D6D7-6501-66EE11E723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5F79E-4D9F-689F-0E7B-AE8375841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67950-1B73-188F-FBB7-20BB519F3F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0537A-1B91-1B81-C617-9DD0F999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539EFF-3767-DE58-6F2A-868E462CFA95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6215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9E70A-8BA7-59A8-E319-DE86562785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C4C3D-5E9C-CC31-F691-C2D4632EB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ABD70-AD28-2E39-E8F7-DFD2EF1CC3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FDE2B-BDA7-C50F-15C0-3D6864B4D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539EFF-3767-DE58-6F2A-868E462CFA95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483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78073A-7852-64EA-6646-83C8DDEC2D6F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3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875743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7211566" y="0"/>
            <a:ext cx="4980433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012885" name="Picture Placeholder 5"/>
          <p:cNvSpPr>
            <a:spLocks noGrp="1"/>
          </p:cNvSpPr>
          <p:nvPr>
            <p:ph type="pic" sz="quarter" idx="11"/>
          </p:nvPr>
        </p:nvSpPr>
        <p:spPr bwMode="auto">
          <a:xfrm>
            <a:off x="1095792" y="3797040"/>
            <a:ext cx="2060506" cy="189433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5776370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7382214" y="1134533"/>
            <a:ext cx="3675253" cy="452829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3230797" name="Rectangle 3"/>
          <p:cNvSpPr/>
          <p:nvPr userDrawn="1"/>
        </p:nvSpPr>
        <p:spPr bwMode="auto">
          <a:xfrm>
            <a:off x="1115568" y="5925312"/>
            <a:ext cx="4980432" cy="932688"/>
          </a:xfrm>
          <a:prstGeom prst="rect">
            <a:avLst/>
          </a:prstGeom>
          <a:solidFill>
            <a:srgbClr val="001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8884339" name="Rectangle 6"/>
          <p:cNvSpPr/>
          <p:nvPr userDrawn="1"/>
        </p:nvSpPr>
        <p:spPr bwMode="auto">
          <a:xfrm>
            <a:off x="6095999" y="5925312"/>
            <a:ext cx="4683369" cy="93268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510253" name="Picture Placeholder 5"/>
          <p:cNvSpPr>
            <a:spLocks noGrp="1"/>
          </p:cNvSpPr>
          <p:nvPr>
            <p:ph type="pic" sz="quarter" idx="11"/>
          </p:nvPr>
        </p:nvSpPr>
        <p:spPr bwMode="auto">
          <a:xfrm>
            <a:off x="946414" y="1195171"/>
            <a:ext cx="3713994" cy="44676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68607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96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878746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6705600" y="4007644"/>
            <a:ext cx="5067300" cy="285035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7898285" name="Rectangle 4"/>
          <p:cNvSpPr/>
          <p:nvPr userDrawn="1"/>
        </p:nvSpPr>
        <p:spPr bwMode="auto">
          <a:xfrm>
            <a:off x="0" y="867966"/>
            <a:ext cx="6248400" cy="5990034"/>
          </a:xfrm>
          <a:prstGeom prst="rect">
            <a:avLst/>
          </a:prstGeom>
          <a:solidFill>
            <a:srgbClr val="001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0193207" name="Picture Placeholder 5"/>
          <p:cNvSpPr>
            <a:spLocks noGrp="1"/>
          </p:cNvSpPr>
          <p:nvPr>
            <p:ph type="pic" sz="quarter" idx="11"/>
          </p:nvPr>
        </p:nvSpPr>
        <p:spPr bwMode="auto">
          <a:xfrm>
            <a:off x="6705600" y="867966"/>
            <a:ext cx="5067300" cy="285035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24290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631566" y="756218"/>
            <a:ext cx="5892326" cy="564458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426598" name="Picture Placeholder 5"/>
          <p:cNvSpPr>
            <a:spLocks noGrp="1"/>
          </p:cNvSpPr>
          <p:nvPr>
            <p:ph type="pic" sz="quarter" idx="11"/>
          </p:nvPr>
        </p:nvSpPr>
        <p:spPr bwMode="auto">
          <a:xfrm>
            <a:off x="7793180" y="1226127"/>
            <a:ext cx="3782292" cy="523701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3631547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3602180" y="1226127"/>
            <a:ext cx="3782292" cy="523701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423669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6096001" y="0"/>
            <a:ext cx="6096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208911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476250" y="952500"/>
            <a:ext cx="4642601" cy="554355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9979066" name="Rectangle 8"/>
          <p:cNvSpPr/>
          <p:nvPr userDrawn="1"/>
        </p:nvSpPr>
        <p:spPr bwMode="auto">
          <a:xfrm>
            <a:off x="5582824" y="5791200"/>
            <a:ext cx="6099059" cy="704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120767073" name="Picture 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257987" y="203737"/>
            <a:ext cx="1387782" cy="2770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2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63398" name="Picture Placeholder 5"/>
          <p:cNvSpPr>
            <a:spLocks noGrp="1"/>
          </p:cNvSpPr>
          <p:nvPr>
            <p:ph type="pic" sz="quarter" idx="11"/>
          </p:nvPr>
        </p:nvSpPr>
        <p:spPr bwMode="auto">
          <a:xfrm>
            <a:off x="4546785" y="2078178"/>
            <a:ext cx="3141122" cy="423949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1316033" name="Picture Placeholder 5"/>
          <p:cNvSpPr>
            <a:spLocks noGrp="1"/>
          </p:cNvSpPr>
          <p:nvPr>
            <p:ph type="pic" sz="quarter" idx="12"/>
          </p:nvPr>
        </p:nvSpPr>
        <p:spPr bwMode="auto">
          <a:xfrm>
            <a:off x="7992707" y="2078177"/>
            <a:ext cx="3141122" cy="423949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3184060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1100863" y="2078179"/>
            <a:ext cx="3141122" cy="423949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4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342721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7346984" y="1156915"/>
            <a:ext cx="3718344" cy="528198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0312936" name="Picture Placeholder 5"/>
          <p:cNvSpPr>
            <a:spLocks noGrp="1"/>
          </p:cNvSpPr>
          <p:nvPr>
            <p:ph type="pic" sz="quarter" idx="15"/>
          </p:nvPr>
        </p:nvSpPr>
        <p:spPr bwMode="auto">
          <a:xfrm>
            <a:off x="542438" y="4189907"/>
            <a:ext cx="2253343" cy="224899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166584" name="Picture Placeholder 5"/>
          <p:cNvSpPr>
            <a:spLocks noGrp="1"/>
          </p:cNvSpPr>
          <p:nvPr>
            <p:ph type="pic" sz="quarter" idx="16"/>
          </p:nvPr>
        </p:nvSpPr>
        <p:spPr bwMode="auto">
          <a:xfrm>
            <a:off x="3359116" y="4189906"/>
            <a:ext cx="2253343" cy="224899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5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715183" name="Picture Placeholder 5"/>
          <p:cNvSpPr>
            <a:spLocks noGrp="1"/>
          </p:cNvSpPr>
          <p:nvPr>
            <p:ph type="pic" sz="quarter" idx="11"/>
          </p:nvPr>
        </p:nvSpPr>
        <p:spPr bwMode="auto">
          <a:xfrm>
            <a:off x="8840313" y="837456"/>
            <a:ext cx="2541374" cy="249841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06954529" name="Picture Placeholder 5"/>
          <p:cNvSpPr>
            <a:spLocks noGrp="1"/>
          </p:cNvSpPr>
          <p:nvPr>
            <p:ph type="pic" sz="quarter" idx="12"/>
          </p:nvPr>
        </p:nvSpPr>
        <p:spPr bwMode="auto">
          <a:xfrm>
            <a:off x="5909045" y="837456"/>
            <a:ext cx="2541374" cy="249841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4870818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5909045" y="3686861"/>
            <a:ext cx="2541374" cy="249841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803925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640261" y="762434"/>
            <a:ext cx="5726672" cy="563793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573580911" name="Picture 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257987" y="203737"/>
            <a:ext cx="1387782" cy="2770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686910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6096000" y="592729"/>
            <a:ext cx="5261772" cy="567254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544659908" name="Picture 4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257987" y="203737"/>
            <a:ext cx="1387782" cy="2770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833494" name="Rectangle 2"/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rgbClr val="001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800995639" name="Picture 4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257987" y="203737"/>
            <a:ext cx="1387782" cy="2770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733396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7870082" y="1336430"/>
            <a:ext cx="3568649" cy="3024819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1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670214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332493" y="806450"/>
            <a:ext cx="4906417" cy="577762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8645629" name="Picture Placeholder 5"/>
          <p:cNvSpPr>
            <a:spLocks noGrp="1"/>
          </p:cNvSpPr>
          <p:nvPr>
            <p:ph type="pic" sz="quarter" idx="11"/>
          </p:nvPr>
        </p:nvSpPr>
        <p:spPr bwMode="auto">
          <a:xfrm>
            <a:off x="3813910" y="4582583"/>
            <a:ext cx="2850002" cy="200149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82171643" name="Picture Placeholder 5"/>
          <p:cNvSpPr>
            <a:spLocks noGrp="1"/>
          </p:cNvSpPr>
          <p:nvPr>
            <p:ph type="pic" sz="quarter" idx="12"/>
          </p:nvPr>
        </p:nvSpPr>
        <p:spPr bwMode="auto">
          <a:xfrm>
            <a:off x="3813910" y="2126858"/>
            <a:ext cx="2850002" cy="200149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438822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4165601" y="0"/>
            <a:ext cx="80264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3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27278" name="Rectangle 4"/>
          <p:cNvSpPr/>
          <p:nvPr userDrawn="1"/>
        </p:nvSpPr>
        <p:spPr bwMode="auto">
          <a:xfrm>
            <a:off x="0" y="5650993"/>
            <a:ext cx="12192000" cy="1207008"/>
          </a:xfrm>
          <a:prstGeom prst="rect">
            <a:avLst/>
          </a:prstGeom>
          <a:solidFill>
            <a:srgbClr val="001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69676921" name="Picture Placeholder 5"/>
          <p:cNvSpPr>
            <a:spLocks noGrp="1"/>
          </p:cNvSpPr>
          <p:nvPr>
            <p:ph type="pic" sz="quarter" idx="15"/>
          </p:nvPr>
        </p:nvSpPr>
        <p:spPr bwMode="auto">
          <a:xfrm>
            <a:off x="3106908" y="3569149"/>
            <a:ext cx="2019488" cy="266210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0573181" name="Picture Placeholder 5"/>
          <p:cNvSpPr>
            <a:spLocks noGrp="1"/>
          </p:cNvSpPr>
          <p:nvPr>
            <p:ph type="pic" sz="quarter" idx="16"/>
          </p:nvPr>
        </p:nvSpPr>
        <p:spPr bwMode="auto">
          <a:xfrm>
            <a:off x="6839890" y="626746"/>
            <a:ext cx="4608218" cy="560450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7657066" name="Picture Placeholder 5"/>
          <p:cNvSpPr>
            <a:spLocks noGrp="1"/>
          </p:cNvSpPr>
          <p:nvPr>
            <p:ph type="pic" sz="quarter" idx="14"/>
          </p:nvPr>
        </p:nvSpPr>
        <p:spPr bwMode="auto">
          <a:xfrm>
            <a:off x="865061" y="3569149"/>
            <a:ext cx="2019488" cy="266210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7416" name="Picture Placeholder 5"/>
          <p:cNvSpPr>
            <a:spLocks noGrp="1"/>
          </p:cNvSpPr>
          <p:nvPr>
            <p:ph type="pic" sz="quarter" idx="17"/>
          </p:nvPr>
        </p:nvSpPr>
        <p:spPr bwMode="auto">
          <a:xfrm>
            <a:off x="4120656" y="4124057"/>
            <a:ext cx="2795946" cy="187669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0184041" name="Picture Placeholder 5"/>
          <p:cNvSpPr>
            <a:spLocks noGrp="1"/>
          </p:cNvSpPr>
          <p:nvPr>
            <p:ph type="pic" sz="quarter" idx="18"/>
          </p:nvPr>
        </p:nvSpPr>
        <p:spPr bwMode="auto">
          <a:xfrm>
            <a:off x="1219200" y="2132132"/>
            <a:ext cx="2795946" cy="386861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8574647" name="Picture Placeholder 5"/>
          <p:cNvSpPr>
            <a:spLocks noGrp="1"/>
          </p:cNvSpPr>
          <p:nvPr>
            <p:ph type="pic" sz="quarter" idx="15"/>
          </p:nvPr>
        </p:nvSpPr>
        <p:spPr bwMode="auto">
          <a:xfrm>
            <a:off x="7022119" y="2132133"/>
            <a:ext cx="4009294" cy="386861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99756969" name="Picture Placeholder 5"/>
          <p:cNvSpPr>
            <a:spLocks noGrp="1"/>
          </p:cNvSpPr>
          <p:nvPr>
            <p:ph type="pic" sz="quarter" idx="14"/>
          </p:nvPr>
        </p:nvSpPr>
        <p:spPr bwMode="auto">
          <a:xfrm>
            <a:off x="4120655" y="2132133"/>
            <a:ext cx="2795955" cy="187669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468376" name="Picture Placeholder 4"/>
          <p:cNvSpPr>
            <a:spLocks noGrp="1"/>
          </p:cNvSpPr>
          <p:nvPr>
            <p:ph type="pic" sz="quarter" idx="20"/>
          </p:nvPr>
        </p:nvSpPr>
        <p:spPr bwMode="auto">
          <a:xfrm>
            <a:off x="1505035" y="2723938"/>
            <a:ext cx="2931499" cy="29487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4630432" name="Picture Placeholder 4"/>
          <p:cNvSpPr>
            <a:spLocks noGrp="1"/>
          </p:cNvSpPr>
          <p:nvPr>
            <p:ph type="pic" sz="quarter" idx="21"/>
          </p:nvPr>
        </p:nvSpPr>
        <p:spPr bwMode="auto">
          <a:xfrm>
            <a:off x="4671568" y="2723938"/>
            <a:ext cx="2931499" cy="29487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2270382" name="Picture Placeholder 4"/>
          <p:cNvSpPr>
            <a:spLocks noGrp="1"/>
          </p:cNvSpPr>
          <p:nvPr>
            <p:ph type="pic" sz="quarter" idx="22"/>
          </p:nvPr>
        </p:nvSpPr>
        <p:spPr bwMode="auto">
          <a:xfrm>
            <a:off x="7838101" y="2723938"/>
            <a:ext cx="2931499" cy="29487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71343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346330" y="4287798"/>
            <a:ext cx="2346069" cy="228713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09251" name="Picture Placeholder 4"/>
          <p:cNvSpPr>
            <a:spLocks noGrp="1"/>
          </p:cNvSpPr>
          <p:nvPr>
            <p:ph type="pic" sz="quarter" idx="18"/>
          </p:nvPr>
        </p:nvSpPr>
        <p:spPr bwMode="auto">
          <a:xfrm>
            <a:off x="5591269" y="1774762"/>
            <a:ext cx="6254401" cy="480016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3071121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341935" y="1774763"/>
            <a:ext cx="2346069" cy="228713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752342" name="Picture Placeholder 4"/>
          <p:cNvSpPr>
            <a:spLocks noGrp="1"/>
          </p:cNvSpPr>
          <p:nvPr>
            <p:ph type="pic" sz="quarter" idx="19"/>
          </p:nvPr>
        </p:nvSpPr>
        <p:spPr bwMode="auto">
          <a:xfrm>
            <a:off x="2970997" y="4287798"/>
            <a:ext cx="2346069" cy="228713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9546683" name="Picture Placeholder 4"/>
          <p:cNvSpPr>
            <a:spLocks noGrp="1"/>
          </p:cNvSpPr>
          <p:nvPr>
            <p:ph type="pic" sz="quarter" idx="20"/>
          </p:nvPr>
        </p:nvSpPr>
        <p:spPr bwMode="auto">
          <a:xfrm>
            <a:off x="2966602" y="1774763"/>
            <a:ext cx="2346069" cy="228713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115982" name="Picture Placeholder 4"/>
          <p:cNvSpPr>
            <a:spLocks noGrp="1"/>
          </p:cNvSpPr>
          <p:nvPr>
            <p:ph type="pic" sz="quarter" idx="16"/>
          </p:nvPr>
        </p:nvSpPr>
        <p:spPr bwMode="auto">
          <a:xfrm>
            <a:off x="6290779" y="1850968"/>
            <a:ext cx="4222821" cy="23957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847528" name="Picture Placeholder 4"/>
          <p:cNvSpPr>
            <a:spLocks noGrp="1"/>
          </p:cNvSpPr>
          <p:nvPr>
            <p:ph type="pic" sz="quarter" idx="21"/>
          </p:nvPr>
        </p:nvSpPr>
        <p:spPr bwMode="auto">
          <a:xfrm>
            <a:off x="5955323" y="1828800"/>
            <a:ext cx="4704959" cy="291465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503752" name="Picture Placeholder 4"/>
          <p:cNvSpPr>
            <a:spLocks noGrp="1"/>
          </p:cNvSpPr>
          <p:nvPr>
            <p:ph type="pic" sz="quarter" idx="21"/>
          </p:nvPr>
        </p:nvSpPr>
        <p:spPr bwMode="auto">
          <a:xfrm>
            <a:off x="5592839" y="1913072"/>
            <a:ext cx="2116340" cy="411558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9482786" name="Picture Placeholder 4"/>
          <p:cNvSpPr>
            <a:spLocks noGrp="1"/>
          </p:cNvSpPr>
          <p:nvPr>
            <p:ph type="pic" sz="quarter" idx="22"/>
          </p:nvPr>
        </p:nvSpPr>
        <p:spPr bwMode="auto">
          <a:xfrm>
            <a:off x="8708572" y="829339"/>
            <a:ext cx="2116340" cy="411558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306206" name="Picture Placeholder 4"/>
          <p:cNvSpPr>
            <a:spLocks noGrp="1"/>
          </p:cNvSpPr>
          <p:nvPr>
            <p:ph type="pic" sz="quarter" idx="16"/>
          </p:nvPr>
        </p:nvSpPr>
        <p:spPr bwMode="auto">
          <a:xfrm>
            <a:off x="7296256" y="1630017"/>
            <a:ext cx="2767649" cy="38961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702108" name="Rectangle 2"/>
          <p:cNvSpPr/>
          <p:nvPr userDrawn="1"/>
        </p:nvSpPr>
        <p:spPr bwMode="auto">
          <a:xfrm>
            <a:off x="0" y="5650993"/>
            <a:ext cx="6095999" cy="1207008"/>
          </a:xfrm>
          <a:prstGeom prst="rect">
            <a:avLst/>
          </a:prstGeom>
          <a:solidFill>
            <a:srgbClr val="001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6243114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917619" y="1266092"/>
            <a:ext cx="4260759" cy="5181209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8873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0" y="874642"/>
            <a:ext cx="12191999" cy="59833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2_Title Slid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969821" name="Picture Placeholder 5"/>
          <p:cNvSpPr>
            <a:spLocks noGrp="1"/>
          </p:cNvSpPr>
          <p:nvPr>
            <p:ph type="pic" sz="quarter" idx="10"/>
          </p:nvPr>
        </p:nvSpPr>
        <p:spPr bwMode="auto">
          <a:xfrm>
            <a:off x="702041" y="722242"/>
            <a:ext cx="2307859" cy="27067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9176944" name="Picture Placeholder 5"/>
          <p:cNvSpPr>
            <a:spLocks noGrp="1"/>
          </p:cNvSpPr>
          <p:nvPr>
            <p:ph type="pic" sz="quarter" idx="11"/>
          </p:nvPr>
        </p:nvSpPr>
        <p:spPr bwMode="auto">
          <a:xfrm>
            <a:off x="3292841" y="722242"/>
            <a:ext cx="2307859" cy="27067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0566318" name="Picture Placeholder 5"/>
          <p:cNvSpPr>
            <a:spLocks noGrp="1"/>
          </p:cNvSpPr>
          <p:nvPr>
            <p:ph type="pic" sz="quarter" idx="12"/>
          </p:nvPr>
        </p:nvSpPr>
        <p:spPr bwMode="auto">
          <a:xfrm>
            <a:off x="702040" y="3713092"/>
            <a:ext cx="2307859" cy="27067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30944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194994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7970013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8898DA1-82C5-4625-898D-234CAD317A1B}" type="datetimeFigureOut">
              <a:rPr lang="en-US"/>
              <a:t>5/13/2026</a:t>
            </a:fld>
            <a:endParaRPr lang="en-US"/>
          </a:p>
        </p:txBody>
      </p:sp>
      <p:sp>
        <p:nvSpPr>
          <p:cNvPr id="166627862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975797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0288574-51F9-49D4-81BC-E6D0172B704E}" type="slidenum">
              <a:rPr lang="en-US"/>
              <a:t>‹nº›</a:t>
            </a:fld>
            <a:endParaRPr lang="en-US"/>
          </a:p>
        </p:txBody>
      </p:sp>
      <p:pic>
        <p:nvPicPr>
          <p:cNvPr id="1577186352" name="Picture 6"/>
          <p:cNvPicPr>
            <a:picLocks noChangeAspect="1"/>
          </p:cNvPicPr>
          <p:nvPr userDrawn="1"/>
        </p:nvPicPr>
        <p:blipFill rotWithShape="1">
          <a:blip r:embed="rId34"/>
          <a:stretch/>
        </p:blipFill>
        <p:spPr bwMode="auto">
          <a:xfrm>
            <a:off x="258056" y="214818"/>
            <a:ext cx="1402691" cy="2805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225419" name="TextBox 6"/>
          <p:cNvSpPr txBox="1"/>
          <p:nvPr/>
        </p:nvSpPr>
        <p:spPr bwMode="auto">
          <a:xfrm>
            <a:off x="1035957" y="4038776"/>
            <a:ext cx="4606007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1800" b="0" i="0" u="none" strike="noStrike" cap="none" spc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</a:rPr>
              <a:t>Aplicação inteligente de gestão de compras </a:t>
            </a:r>
          </a:p>
          <a:p>
            <a:pPr>
              <a:defRPr/>
            </a:pPr>
            <a:r>
              <a:rPr lang="pt-PT" sz="1800" b="0" i="0" u="none" strike="noStrike" cap="none" spc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</a:rPr>
              <a:t>e inventário doméstico</a:t>
            </a:r>
            <a:endParaRPr sz="1800">
              <a:solidFill>
                <a:schemeClr val="bg1"/>
              </a:solidFill>
              <a:latin typeface="Poppins SemiBold"/>
              <a:cs typeface="Poppins SemiBold"/>
            </a:endParaRPr>
          </a:p>
        </p:txBody>
      </p:sp>
      <p:cxnSp>
        <p:nvCxnSpPr>
          <p:cNvPr id="1060582879" name="Straight Connector 35"/>
          <p:cNvCxnSpPr/>
          <p:nvPr/>
        </p:nvCxnSpPr>
        <p:spPr bwMode="auto">
          <a:xfrm>
            <a:off x="1035958" y="4750055"/>
            <a:ext cx="55240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8113955" name="TextBox 36"/>
          <p:cNvSpPr txBox="1"/>
          <p:nvPr/>
        </p:nvSpPr>
        <p:spPr bwMode="auto">
          <a:xfrm>
            <a:off x="986716" y="5027359"/>
            <a:ext cx="4433763" cy="9452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800">
                <a:solidFill>
                  <a:schemeClr val="bg1"/>
                </a:solidFill>
                <a:latin typeface="Poppins Medium"/>
                <a:cs typeface="Poppins Medium"/>
              </a:rPr>
              <a:t>Hugo Moreira - a22402246</a:t>
            </a:r>
            <a:endParaRPr lang="en-US" sz="2800">
              <a:solidFill>
                <a:schemeClr val="bg1"/>
              </a:solidFill>
              <a:latin typeface="Poppins Medium"/>
              <a:cs typeface="Poppins Medium"/>
            </a:endParaRPr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bg1"/>
                </a:solidFill>
                <a:latin typeface="Poppins Medium"/>
                <a:ea typeface="Poppins Medium"/>
                <a:cs typeface="Poppins Medium"/>
              </a:rPr>
              <a:t>Projeto Académico</a:t>
            </a:r>
            <a:endParaRPr/>
          </a:p>
        </p:txBody>
      </p:sp>
      <p:pic>
        <p:nvPicPr>
          <p:cNvPr id="1867282600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35958" y="925974"/>
            <a:ext cx="1980073" cy="395315"/>
          </a:xfrm>
          <a:prstGeom prst="rect">
            <a:avLst/>
          </a:prstGeom>
        </p:spPr>
      </p:pic>
      <p:sp>
        <p:nvSpPr>
          <p:cNvPr id="1472017668" name="CaixaDeTexto 1472017667"/>
          <p:cNvSpPr txBox="1"/>
          <p:nvPr/>
        </p:nvSpPr>
        <p:spPr bwMode="auto">
          <a:xfrm>
            <a:off x="1035957" y="2834460"/>
            <a:ext cx="3146016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PT" sz="7200">
                <a:solidFill>
                  <a:schemeClr val="bg1"/>
                </a:solidFill>
              </a:rPr>
              <a:t>ReStock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C02FD6AC-E459-9E63-8AC0-321A5E966D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729" y="-404261"/>
            <a:ext cx="1578542" cy="157854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46F5766-26F8-DD5E-1002-A38217CE242F}"/>
              </a:ext>
            </a:extLst>
          </p:cNvPr>
          <p:cNvSpPr txBox="1"/>
          <p:nvPr/>
        </p:nvSpPr>
        <p:spPr>
          <a:xfrm>
            <a:off x="274008" y="5865292"/>
            <a:ext cx="4115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Fonte: Inquérito realizado a 54 utilizadores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883E684-AC67-7B50-1382-98B70788501D}"/>
              </a:ext>
            </a:extLst>
          </p:cNvPr>
          <p:cNvSpPr txBox="1"/>
          <p:nvPr/>
        </p:nvSpPr>
        <p:spPr>
          <a:xfrm>
            <a:off x="574261" y="1606564"/>
            <a:ext cx="34765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DESPERDÍCIO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DD42CD1-6E39-6F4C-C74B-813C6608DE12}"/>
              </a:ext>
            </a:extLst>
          </p:cNvPr>
          <p:cNvSpPr txBox="1"/>
          <p:nvPr/>
        </p:nvSpPr>
        <p:spPr>
          <a:xfrm>
            <a:off x="574261" y="2423567"/>
            <a:ext cx="4564667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falta de controlo sobre o inventário doméstico tem custos reais, tanto para a carteira como para o ambiente.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CE473D5-162D-61AF-1520-D439DDEC612D}"/>
              </a:ext>
            </a:extLst>
          </p:cNvPr>
          <p:cNvSpPr txBox="1"/>
          <p:nvPr/>
        </p:nvSpPr>
        <p:spPr>
          <a:xfrm>
            <a:off x="574260" y="1174281"/>
            <a:ext cx="1757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PROBLEMA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4472636D-F8D7-DCF5-02B0-2791D9B31B8C}"/>
              </a:ext>
            </a:extLst>
          </p:cNvPr>
          <p:cNvSpPr/>
          <p:nvPr/>
        </p:nvSpPr>
        <p:spPr bwMode="auto">
          <a:xfrm>
            <a:off x="5782058" y="1174281"/>
            <a:ext cx="2758438" cy="2254719"/>
          </a:xfrm>
          <a:prstGeom prst="roundRect">
            <a:avLst>
              <a:gd name="adj" fmla="val 685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40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50,9%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dos pessoas admitem esquecer produtos que acabam por expirar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4FB36791-C9D3-F9DD-81D2-0D0493E7A0A2}"/>
              </a:ext>
            </a:extLst>
          </p:cNvPr>
          <p:cNvSpPr/>
          <p:nvPr/>
        </p:nvSpPr>
        <p:spPr bwMode="auto">
          <a:xfrm>
            <a:off x="8854438" y="1174281"/>
            <a:ext cx="2763300" cy="2254719"/>
          </a:xfrm>
          <a:prstGeom prst="roundRect">
            <a:avLst>
              <a:gd name="adj" fmla="val 685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40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85%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das pessoas compram produtos repetidos por engano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93EF578-8BF7-C0AD-B19C-6ED4E4B6C70E}"/>
              </a:ext>
            </a:extLst>
          </p:cNvPr>
          <p:cNvSpPr/>
          <p:nvPr/>
        </p:nvSpPr>
        <p:spPr bwMode="auto">
          <a:xfrm>
            <a:off x="5782058" y="3779358"/>
            <a:ext cx="5858254" cy="2630585"/>
          </a:xfrm>
          <a:prstGeom prst="roundRect">
            <a:avLst>
              <a:gd name="adj" fmla="val 685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40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ZERO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Aplicações gratuitas integram controlo de validades, partilha e registo automático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7754B-AD3C-1767-6996-1ECA22719E0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AutoShape 6" descr="Logo moderno da ReStock com caixa verde">
            <a:extLst>
              <a:ext uri="{FF2B5EF4-FFF2-40B4-BE49-F238E27FC236}">
                <a16:creationId xmlns:a16="http://schemas.microsoft.com/office/drawing/2014/main" id="{AA66F7A3-6871-EF1C-A730-BD86322EF8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20152" cy="402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16EDB7C-D236-280D-3A77-A27B4B90F0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729" y="-404261"/>
            <a:ext cx="1578542" cy="157854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480EC4F-CD04-500D-AAC1-140E50BB6096}"/>
              </a:ext>
            </a:extLst>
          </p:cNvPr>
          <p:cNvSpPr txBox="1"/>
          <p:nvPr/>
        </p:nvSpPr>
        <p:spPr>
          <a:xfrm>
            <a:off x="4276883" y="4505077"/>
            <a:ext cx="29743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Inventário em tempo real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7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Redução de gastos e desperdício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AAEB7B7-450E-C46F-7ABE-BF6586982462}"/>
              </a:ext>
            </a:extLst>
          </p:cNvPr>
          <p:cNvSpPr txBox="1"/>
          <p:nvPr/>
        </p:nvSpPr>
        <p:spPr>
          <a:xfrm>
            <a:off x="574261" y="1606564"/>
            <a:ext cx="40201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CONTROLO EM TEMPO REAL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8EDE7C-36DC-79BA-2CCD-1ABEB3B5C81F}"/>
              </a:ext>
            </a:extLst>
          </p:cNvPr>
          <p:cNvSpPr txBox="1"/>
          <p:nvPr/>
        </p:nvSpPr>
        <p:spPr>
          <a:xfrm>
            <a:off x="356616" y="4505077"/>
            <a:ext cx="360234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PT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ReStock</a:t>
            </a:r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é a plataforma que centraliza a gestão do seu inventário pessoal, para que desperdice menos e poupe mais.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3B0DEC5-6F4F-4804-5F99-5915F50C262F}"/>
              </a:ext>
            </a:extLst>
          </p:cNvPr>
          <p:cNvSpPr txBox="1"/>
          <p:nvPr/>
        </p:nvSpPr>
        <p:spPr>
          <a:xfrm>
            <a:off x="574260" y="1174281"/>
            <a:ext cx="1757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SOLUÇÃO</a:t>
            </a:r>
          </a:p>
        </p:txBody>
      </p: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14BB5058-6859-06B6-7316-9F3CB7F312D0}"/>
              </a:ext>
            </a:extLst>
          </p:cNvPr>
          <p:cNvCxnSpPr>
            <a:cxnSpLocks/>
          </p:cNvCxnSpPr>
          <p:nvPr/>
        </p:nvCxnSpPr>
        <p:spPr>
          <a:xfrm>
            <a:off x="356616" y="4242816"/>
            <a:ext cx="680313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D95165D1-A0EA-2379-9FA9-84E10396D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119" y="0"/>
            <a:ext cx="46228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9800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70D98-F54A-1CF5-7E27-9E44980265E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AutoShape 6" descr="Logo moderno da ReStock com caixa verde">
            <a:extLst>
              <a:ext uri="{FF2B5EF4-FFF2-40B4-BE49-F238E27FC236}">
                <a16:creationId xmlns:a16="http://schemas.microsoft.com/office/drawing/2014/main" id="{DAF05A90-B829-BDB3-DE9C-77782AA5AC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20152" cy="402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4390552-04AD-9E2F-1588-637B0F735A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729" y="-404261"/>
            <a:ext cx="1578542" cy="157854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BA4DF16-53B1-268A-F144-405ACE46C993}"/>
              </a:ext>
            </a:extLst>
          </p:cNvPr>
          <p:cNvSpPr txBox="1"/>
          <p:nvPr/>
        </p:nvSpPr>
        <p:spPr>
          <a:xfrm>
            <a:off x="5439344" y="2268283"/>
            <a:ext cx="657892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1. INVENTÁRIO DINÂMICO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 Gestão de produtos com alertas automáticos de validade.</a:t>
            </a: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2. CÓDIGO DE BARRAS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 Registo automático e instantâneo via câmara do telemóvel.</a:t>
            </a: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3. OCR DE FATURAS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 Digitalização de faturas de supermercado com ML Kit.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2EE2A35-4857-8901-F077-3734FCDD2505}"/>
              </a:ext>
            </a:extLst>
          </p:cNvPr>
          <p:cNvSpPr txBox="1"/>
          <p:nvPr/>
        </p:nvSpPr>
        <p:spPr>
          <a:xfrm>
            <a:off x="574261" y="1606564"/>
            <a:ext cx="40201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INTELIGÊNCIA NA COMPRA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3B90286-4C34-817A-5FA4-D9E528C49B7C}"/>
              </a:ext>
            </a:extLst>
          </p:cNvPr>
          <p:cNvSpPr txBox="1"/>
          <p:nvPr/>
        </p:nvSpPr>
        <p:spPr>
          <a:xfrm>
            <a:off x="574260" y="3429000"/>
            <a:ext cx="3877019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Tecnologia pensada para tornar o registo e a gestão do seu inventário simples e sem complicações.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10F9F92-6EBC-71FA-72FF-EDA036C49D7D}"/>
              </a:ext>
            </a:extLst>
          </p:cNvPr>
          <p:cNvSpPr txBox="1"/>
          <p:nvPr/>
        </p:nvSpPr>
        <p:spPr>
          <a:xfrm>
            <a:off x="574260" y="1174281"/>
            <a:ext cx="2278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FUNCIONALIDADES</a:t>
            </a:r>
          </a:p>
        </p:txBody>
      </p:sp>
    </p:spTree>
    <p:extLst>
      <p:ext uri="{BB962C8B-B14F-4D97-AF65-F5344CB8AC3E}">
        <p14:creationId xmlns:p14="http://schemas.microsoft.com/office/powerpoint/2010/main" val="12186377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FE692-7B8A-E851-7D96-431D6FB6E99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AutoShape 6" descr="Logo moderno da ReStock com caixa verde">
            <a:extLst>
              <a:ext uri="{FF2B5EF4-FFF2-40B4-BE49-F238E27FC236}">
                <a16:creationId xmlns:a16="http://schemas.microsoft.com/office/drawing/2014/main" id="{A2FA9899-ADA7-4FCE-256E-85300C8CAE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20152" cy="402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4E6B0D4-7DDA-8BC8-AD76-9F5C7ABB92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729" y="-404261"/>
            <a:ext cx="1578542" cy="157854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7E083D8-2D0A-AA5F-AF89-1D20CC556020}"/>
              </a:ext>
            </a:extLst>
          </p:cNvPr>
          <p:cNvSpPr txBox="1"/>
          <p:nvPr/>
        </p:nvSpPr>
        <p:spPr>
          <a:xfrm>
            <a:off x="5512496" y="2090172"/>
            <a:ext cx="63960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4. PARTILHA FAMILIAR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 Listas e inventários sincronizados em tempo real entre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 dispositivos.</a:t>
            </a:r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5. ORÇAMENTO MENSAL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 Controlo de gastos detalhado com gráficos visuais.</a:t>
            </a:r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6. GAMIFICAÇÃO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 Sistema de pontos, níveis e badges para incentivar o uso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 sustentável.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CB80867-E5F7-1AEC-AC17-7CA460BD6149}"/>
              </a:ext>
            </a:extLst>
          </p:cNvPr>
          <p:cNvSpPr txBox="1"/>
          <p:nvPr/>
        </p:nvSpPr>
        <p:spPr>
          <a:xfrm>
            <a:off x="528540" y="1606564"/>
            <a:ext cx="40160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FAMÍLIA </a:t>
            </a:r>
          </a:p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CONECTADA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BF355CD-3BA3-E13A-E46F-6B9E5CC66636}"/>
              </a:ext>
            </a:extLst>
          </p:cNvPr>
          <p:cNvSpPr txBox="1"/>
          <p:nvPr/>
        </p:nvSpPr>
        <p:spPr>
          <a:xfrm>
            <a:off x="574260" y="3922776"/>
            <a:ext cx="387701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Uma experiência partilhada e motivadora para toda a família.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F1AF61D-EC40-FD01-FC44-222456B3BFD3}"/>
              </a:ext>
            </a:extLst>
          </p:cNvPr>
          <p:cNvSpPr txBox="1"/>
          <p:nvPr/>
        </p:nvSpPr>
        <p:spPr>
          <a:xfrm>
            <a:off x="574260" y="1174281"/>
            <a:ext cx="2278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FUNCIONALIDADES</a:t>
            </a:r>
          </a:p>
        </p:txBody>
      </p:sp>
    </p:spTree>
    <p:extLst>
      <p:ext uri="{BB962C8B-B14F-4D97-AF65-F5344CB8AC3E}">
        <p14:creationId xmlns:p14="http://schemas.microsoft.com/office/powerpoint/2010/main" val="32881557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82AE4-FCE4-9834-C318-5E7F66274AE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AutoShape 6" descr="Logo moderno da ReStock com caixa verde">
            <a:extLst>
              <a:ext uri="{FF2B5EF4-FFF2-40B4-BE49-F238E27FC236}">
                <a16:creationId xmlns:a16="http://schemas.microsoft.com/office/drawing/2014/main" id="{7B997572-646C-218A-BDFD-9428B12DD2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20152" cy="402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2073DAA-C432-0C5D-DA61-70E10BE6D4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729" y="-404261"/>
            <a:ext cx="1578542" cy="157854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04094DF-591E-80EA-CD3A-46E69A024C62}"/>
              </a:ext>
            </a:extLst>
          </p:cNvPr>
          <p:cNvSpPr txBox="1"/>
          <p:nvPr/>
        </p:nvSpPr>
        <p:spPr>
          <a:xfrm>
            <a:off x="602725" y="4266551"/>
            <a:ext cx="411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Padrão:</a:t>
            </a:r>
            <a:r>
              <a:rPr lang="pt-P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MVVM (</a:t>
            </a:r>
            <a:r>
              <a:rPr lang="pt-PT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Model-View-ViewModel</a:t>
            </a:r>
            <a:r>
              <a:rPr lang="pt-P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) </a:t>
            </a:r>
          </a:p>
          <a:p>
            <a:r>
              <a:rPr lang="pt-PT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Linguagem:</a:t>
            </a:r>
            <a:r>
              <a:rPr lang="pt-P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PT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Kotlin</a:t>
            </a:r>
            <a:r>
              <a:rPr lang="pt-P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</a:t>
            </a:r>
            <a:r>
              <a:rPr lang="pt-PT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Coroutines</a:t>
            </a:r>
            <a:endParaRPr lang="pt-PT" sz="14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97BADC7-BC6A-8F1B-50BB-226668D7FD5B}"/>
              </a:ext>
            </a:extLst>
          </p:cNvPr>
          <p:cNvSpPr txBox="1"/>
          <p:nvPr/>
        </p:nvSpPr>
        <p:spPr>
          <a:xfrm>
            <a:off x="574261" y="1606564"/>
            <a:ext cx="34765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STACK</a:t>
            </a:r>
          </a:p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MODERNA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BF77F3-F987-8D14-24F9-AFED71C33C4F}"/>
              </a:ext>
            </a:extLst>
          </p:cNvPr>
          <p:cNvSpPr txBox="1"/>
          <p:nvPr/>
        </p:nvSpPr>
        <p:spPr>
          <a:xfrm>
            <a:off x="574260" y="3429000"/>
            <a:ext cx="456466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Desenvolvido com os padrões mais robustos do ecossistema Android.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429AB54-A27C-89E5-90BA-C42E6188CBC9}"/>
              </a:ext>
            </a:extLst>
          </p:cNvPr>
          <p:cNvSpPr txBox="1"/>
          <p:nvPr/>
        </p:nvSpPr>
        <p:spPr>
          <a:xfrm>
            <a:off x="574260" y="1174281"/>
            <a:ext cx="1757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TECNOLOGIA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DF8E08B-8473-576B-4CC8-9D1EFC1EE6F5}"/>
              </a:ext>
            </a:extLst>
          </p:cNvPr>
          <p:cNvSpPr/>
          <p:nvPr/>
        </p:nvSpPr>
        <p:spPr bwMode="auto">
          <a:xfrm>
            <a:off x="5782058" y="1069848"/>
            <a:ext cx="2805008" cy="2359152"/>
          </a:xfrm>
          <a:prstGeom prst="roundRect">
            <a:avLst>
              <a:gd name="adj" fmla="val 685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2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FIREBASE</a:t>
            </a:r>
            <a:endParaRPr lang="pt-PT" sz="32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r>
              <a:rPr lang="pt-PT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Firestore</a:t>
            </a:r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PT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</a:t>
            </a:r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pt-PT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Storage</a:t>
            </a:r>
            <a:endParaRPr lang="pt-PT" sz="12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D2B8315-F2CF-E3F4-44F1-5435A98109C4}"/>
              </a:ext>
            </a:extLst>
          </p:cNvPr>
          <p:cNvSpPr/>
          <p:nvPr/>
        </p:nvSpPr>
        <p:spPr bwMode="auto">
          <a:xfrm>
            <a:off x="8812731" y="1069848"/>
            <a:ext cx="2805008" cy="2359152"/>
          </a:xfrm>
          <a:prstGeom prst="roundRect">
            <a:avLst>
              <a:gd name="adj" fmla="val 685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2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GOOGLE ML KIT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OCR &amp; </a:t>
            </a:r>
            <a:r>
              <a:rPr lang="pt-PT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Barcode</a:t>
            </a:r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PT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Scanning</a:t>
            </a:r>
            <a:endParaRPr lang="pt-PT" sz="12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4357463-F4AF-E9E4-7145-EA4C761409F5}"/>
              </a:ext>
            </a:extLst>
          </p:cNvPr>
          <p:cNvSpPr/>
          <p:nvPr/>
        </p:nvSpPr>
        <p:spPr bwMode="auto">
          <a:xfrm>
            <a:off x="5782058" y="3779358"/>
            <a:ext cx="5835682" cy="2630585"/>
          </a:xfrm>
          <a:prstGeom prst="roundRect">
            <a:avLst>
              <a:gd name="adj" fmla="val 685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ANDROID JETPACK</a:t>
            </a:r>
          </a:p>
          <a:p>
            <a:r>
              <a:rPr lang="pt-PT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Navigation</a:t>
            </a:r>
            <a:r>
              <a:rPr lang="pt-PT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PT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</a:t>
            </a:r>
            <a:r>
              <a:rPr lang="pt-PT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PT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Binding</a:t>
            </a:r>
            <a:r>
              <a:rPr lang="pt-PT" sz="12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PT" sz="1200" dirty="0" err="1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WorkManager</a:t>
            </a:r>
            <a:endParaRPr lang="pt-PT" sz="1200" dirty="0">
              <a:solidFill>
                <a:schemeClr val="bg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1222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23627-D736-5B13-7210-497CF6DE69F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AutoShape 6" descr="Logo moderno da ReStock com caixa verde">
            <a:extLst>
              <a:ext uri="{FF2B5EF4-FFF2-40B4-BE49-F238E27FC236}">
                <a16:creationId xmlns:a16="http://schemas.microsoft.com/office/drawing/2014/main" id="{3678032D-E70A-6EB2-ACE0-4E7DAB01B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20152" cy="402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92B578B-405A-67A2-2CB4-85544F67CE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729" y="-404261"/>
            <a:ext cx="1578542" cy="157854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6A92B33-8308-9A6D-88EE-070339B6F5CD}"/>
              </a:ext>
            </a:extLst>
          </p:cNvPr>
          <p:cNvSpPr txBox="1"/>
          <p:nvPr/>
        </p:nvSpPr>
        <p:spPr>
          <a:xfrm>
            <a:off x="574261" y="1679716"/>
            <a:ext cx="40201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RESULTADOS E PERFORMANCE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48CF173-94D2-C9DF-0BE3-088EBB472333}"/>
              </a:ext>
            </a:extLst>
          </p:cNvPr>
          <p:cNvSpPr txBox="1"/>
          <p:nvPr/>
        </p:nvSpPr>
        <p:spPr>
          <a:xfrm>
            <a:off x="574260" y="3849624"/>
            <a:ext cx="391544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aplicação foi testada em cenários reais com métricas de sucesso elevadas.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BCB8B80-8D7A-38F4-970A-35B29DBA07D3}"/>
              </a:ext>
            </a:extLst>
          </p:cNvPr>
          <p:cNvSpPr txBox="1"/>
          <p:nvPr/>
        </p:nvSpPr>
        <p:spPr>
          <a:xfrm>
            <a:off x="574260" y="1174281"/>
            <a:ext cx="1757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VALIDAÇÃO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689BB5C-4D30-4BD6-B5C7-58EABEEAB52A}"/>
              </a:ext>
            </a:extLst>
          </p:cNvPr>
          <p:cNvSpPr/>
          <p:nvPr/>
        </p:nvSpPr>
        <p:spPr bwMode="auto">
          <a:xfrm>
            <a:off x="5782058" y="1069848"/>
            <a:ext cx="2805008" cy="2359152"/>
          </a:xfrm>
          <a:prstGeom prst="roundRect">
            <a:avLst>
              <a:gd name="adj" fmla="val 685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40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87%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Requisitos funcionais 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cumpridos (13/15)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6DF796C-7D25-78BC-48FA-1A0B02208ABB}"/>
              </a:ext>
            </a:extLst>
          </p:cNvPr>
          <p:cNvSpPr/>
          <p:nvPr/>
        </p:nvSpPr>
        <p:spPr bwMode="auto">
          <a:xfrm>
            <a:off x="8812731" y="1069848"/>
            <a:ext cx="2805008" cy="2359152"/>
          </a:xfrm>
          <a:prstGeom prst="roundRect">
            <a:avLst>
              <a:gd name="adj" fmla="val 685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40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100%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Validação nos fluxos 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principais da app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B6211B6-B218-1BD2-1574-BD0C892A1797}"/>
              </a:ext>
            </a:extLst>
          </p:cNvPr>
          <p:cNvSpPr/>
          <p:nvPr/>
        </p:nvSpPr>
        <p:spPr bwMode="auto">
          <a:xfrm>
            <a:off x="5782058" y="3779358"/>
            <a:ext cx="5835682" cy="2630585"/>
          </a:xfrm>
          <a:prstGeom prst="roundRect">
            <a:avLst>
              <a:gd name="adj" fmla="val 685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40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ZERO CRASHES</a:t>
            </a:r>
          </a:p>
          <a:p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ADB </a:t>
            </a:r>
            <a:r>
              <a:rPr lang="pt-PT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Monkey</a:t>
            </a:r>
            <a:r>
              <a:rPr 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1000 eventos sem interrupções</a:t>
            </a:r>
          </a:p>
        </p:txBody>
      </p:sp>
    </p:spTree>
    <p:extLst>
      <p:ext uri="{BB962C8B-B14F-4D97-AF65-F5344CB8AC3E}">
        <p14:creationId xmlns:p14="http://schemas.microsoft.com/office/powerpoint/2010/main" val="40360042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D957F-ECF9-6102-F5FD-11174A0490F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AutoShape 6" descr="Logo moderno da ReStock com caixa verde">
            <a:extLst>
              <a:ext uri="{FF2B5EF4-FFF2-40B4-BE49-F238E27FC236}">
                <a16:creationId xmlns:a16="http://schemas.microsoft.com/office/drawing/2014/main" id="{DCA655E6-B479-B4C6-4DE6-3B6BE5CEE8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20152" cy="402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2515CCC-6DEB-E3A9-69D2-3B6E4FAE6C20}"/>
              </a:ext>
            </a:extLst>
          </p:cNvPr>
          <p:cNvSpPr txBox="1"/>
          <p:nvPr/>
        </p:nvSpPr>
        <p:spPr>
          <a:xfrm>
            <a:off x="574261" y="1679716"/>
            <a:ext cx="40201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A APP EM</a:t>
            </a:r>
          </a:p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173B423-1E7D-5F4B-F886-EB619515639F}"/>
              </a:ext>
            </a:extLst>
          </p:cNvPr>
          <p:cNvSpPr txBox="1"/>
          <p:nvPr/>
        </p:nvSpPr>
        <p:spPr>
          <a:xfrm>
            <a:off x="574260" y="3849624"/>
            <a:ext cx="39154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Fluxo principal de utilização demonstrado em contexto real.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A25BD1-3D05-4101-4908-DA3FB62AB9B0}"/>
              </a:ext>
            </a:extLst>
          </p:cNvPr>
          <p:cNvSpPr txBox="1"/>
          <p:nvPr/>
        </p:nvSpPr>
        <p:spPr>
          <a:xfrm>
            <a:off x="574260" y="1174281"/>
            <a:ext cx="2141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DEMONSTRAÇÃO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AFE9615-B437-4861-4C93-7661F7273A3B}"/>
              </a:ext>
            </a:extLst>
          </p:cNvPr>
          <p:cNvSpPr/>
          <p:nvPr/>
        </p:nvSpPr>
        <p:spPr bwMode="auto">
          <a:xfrm>
            <a:off x="6096000" y="722376"/>
            <a:ext cx="4888990" cy="5413248"/>
          </a:xfrm>
          <a:prstGeom prst="roundRect">
            <a:avLst>
              <a:gd name="adj" fmla="val 68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2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ABE627-317B-990B-7FAE-712FB16568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424" y="1106929"/>
            <a:ext cx="4644141" cy="4644141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4778C3A-6BEA-FE94-F4B6-32FD450814B8}"/>
              </a:ext>
            </a:extLst>
          </p:cNvPr>
          <p:cNvSpPr/>
          <p:nvPr/>
        </p:nvSpPr>
        <p:spPr bwMode="auto">
          <a:xfrm>
            <a:off x="9606964" y="4133088"/>
            <a:ext cx="2325956" cy="2633471"/>
          </a:xfrm>
          <a:prstGeom prst="roundRect">
            <a:avLst>
              <a:gd name="adj" fmla="val 68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2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E3BD14-F794-F5CE-8042-C2F73EC68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7756" y="4254734"/>
            <a:ext cx="2124371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7524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4DF2C-65E6-F8E0-C309-B09AB4ED6FD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AutoShape 6" descr="Logo moderno da ReStock com caixa verde">
            <a:extLst>
              <a:ext uri="{FF2B5EF4-FFF2-40B4-BE49-F238E27FC236}">
                <a16:creationId xmlns:a16="http://schemas.microsoft.com/office/drawing/2014/main" id="{4FB72E9A-FF17-0B7F-EF08-E4C9C98EC2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20152" cy="402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5C761B-D93B-3DC3-F4A6-71C35A8E79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729" y="-404261"/>
            <a:ext cx="1578542" cy="157854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FBF22BD-0337-6107-8145-7D3EC686250E}"/>
              </a:ext>
            </a:extLst>
          </p:cNvPr>
          <p:cNvSpPr txBox="1"/>
          <p:nvPr/>
        </p:nvSpPr>
        <p:spPr>
          <a:xfrm>
            <a:off x="5512496" y="2090172"/>
            <a:ext cx="639604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RECEITAS INTELIGENTES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Sugestão baseada no inventário atual.</a:t>
            </a:r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COMPARAÇÃO DE PREÇOS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Entre diferentes supermercados.</a:t>
            </a:r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endParaRPr lang="pt-PT" sz="1400" dirty="0">
              <a:latin typeface="Poppins Medium" panose="00000600000000000000" pitchFamily="2" charset="0"/>
              <a:ea typeface="Open Sans" panose="020B0606030504020204" pitchFamily="34" charset="0"/>
              <a:cs typeface="Poppins Medium" panose="000006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2000" dirty="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EXPANSÃO</a:t>
            </a:r>
          </a:p>
          <a:p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  Lançamento na Play </a:t>
            </a:r>
            <a:r>
              <a:rPr lang="pt-PT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Store</a:t>
            </a:r>
            <a:r>
              <a:rPr lang="pt-PT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 e versão iOS.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43263D5-FDB9-9AED-DB53-ADB03D66C8EA}"/>
              </a:ext>
            </a:extLst>
          </p:cNvPr>
          <p:cNvSpPr txBox="1"/>
          <p:nvPr/>
        </p:nvSpPr>
        <p:spPr>
          <a:xfrm>
            <a:off x="528540" y="1606564"/>
            <a:ext cx="40160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O QUE VEM</a:t>
            </a:r>
          </a:p>
          <a:p>
            <a:r>
              <a:rPr lang="pt-PT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A SEGUIR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81975A-E24E-E620-91FC-EA3E0930DEC5}"/>
              </a:ext>
            </a:extLst>
          </p:cNvPr>
          <p:cNvSpPr txBox="1"/>
          <p:nvPr/>
        </p:nvSpPr>
        <p:spPr>
          <a:xfrm>
            <a:off x="528540" y="3644443"/>
            <a:ext cx="401602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ReStock</a:t>
            </a:r>
            <a:r>
              <a:rPr lang="pt-PT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é uma aplicação Android completa e validada com utilizadores reais.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D651DA6-7EB3-C878-8504-7B7FC8B4EEBF}"/>
              </a:ext>
            </a:extLst>
          </p:cNvPr>
          <p:cNvSpPr txBox="1"/>
          <p:nvPr/>
        </p:nvSpPr>
        <p:spPr>
          <a:xfrm>
            <a:off x="574260" y="1174281"/>
            <a:ext cx="2278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5456456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515215" name="TextBox 6"/>
          <p:cNvSpPr txBox="1"/>
          <p:nvPr/>
        </p:nvSpPr>
        <p:spPr bwMode="auto">
          <a:xfrm>
            <a:off x="885152" y="3208616"/>
            <a:ext cx="61173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9600" dirty="0">
                <a:solidFill>
                  <a:schemeClr val="bg1"/>
                </a:solidFill>
                <a:latin typeface="Poppins SemiBold"/>
                <a:cs typeface="Poppins SemiBold"/>
              </a:rPr>
              <a:t>Obrigado</a:t>
            </a:r>
            <a:endParaRPr lang="en-US" sz="9600" dirty="0">
              <a:solidFill>
                <a:schemeClr val="bg1"/>
              </a:solidFill>
              <a:latin typeface="Poppins SemiBold"/>
              <a:cs typeface="Poppins SemiBold"/>
            </a:endParaRPr>
          </a:p>
        </p:txBody>
      </p:sp>
      <p:cxnSp>
        <p:nvCxnSpPr>
          <p:cNvPr id="1933307726" name="Straight Connector 35"/>
          <p:cNvCxnSpPr/>
          <p:nvPr/>
        </p:nvCxnSpPr>
        <p:spPr bwMode="auto">
          <a:xfrm>
            <a:off x="1035958" y="4750055"/>
            <a:ext cx="55240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137795" name="TextBox 36"/>
          <p:cNvSpPr txBox="1"/>
          <p:nvPr/>
        </p:nvSpPr>
        <p:spPr bwMode="auto">
          <a:xfrm>
            <a:off x="986717" y="5027360"/>
            <a:ext cx="20377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800" dirty="0" err="1">
                <a:solidFill>
                  <a:schemeClr val="bg1"/>
                </a:solidFill>
                <a:latin typeface="Poppins Medium"/>
                <a:cs typeface="Poppins Medium"/>
              </a:rPr>
              <a:t>ReStock</a:t>
            </a:r>
            <a:endParaRPr lang="en-US" sz="2800" dirty="0">
              <a:solidFill>
                <a:schemeClr val="bg1"/>
              </a:solidFill>
              <a:latin typeface="Poppins Medium"/>
              <a:cs typeface="Poppins Medium"/>
            </a:endParaRPr>
          </a:p>
          <a:p>
            <a:pPr>
              <a:defRPr/>
            </a:pPr>
            <a:r>
              <a:rPr lang="en-US" sz="2800" dirty="0">
                <a:solidFill>
                  <a:schemeClr val="bg1"/>
                </a:solidFill>
                <a:latin typeface="Poppins Medium"/>
                <a:cs typeface="Poppins Medium"/>
              </a:rPr>
              <a:t>Maio 2026</a:t>
            </a:r>
          </a:p>
        </p:txBody>
      </p:sp>
      <p:pic>
        <p:nvPicPr>
          <p:cNvPr id="479488481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35958" y="925974"/>
            <a:ext cx="1980073" cy="395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011657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011657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403</Words>
  <Application>Microsoft Office PowerPoint</Application>
  <PresentationFormat>Ecrã Panorâmico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7" baseType="lpstr">
      <vt:lpstr>Open Sans</vt:lpstr>
      <vt:lpstr>Calibri Light</vt:lpstr>
      <vt:lpstr>Calibri</vt:lpstr>
      <vt:lpstr>Poppins SemiBold</vt:lpstr>
      <vt:lpstr>Poppins Medium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Lusófona</dc:title>
  <dc:creator>Valter Arrais</dc:creator>
  <cp:lastModifiedBy>Hugo Moreira</cp:lastModifiedBy>
  <cp:revision>177</cp:revision>
  <dcterms:created xsi:type="dcterms:W3CDTF">2020-11-27T07:55:44Z</dcterms:created>
  <dcterms:modified xsi:type="dcterms:W3CDTF">2026-05-13T22:14:57Z</dcterms:modified>
</cp:coreProperties>
</file>